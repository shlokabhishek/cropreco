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Literature Survey: Crop Recommendation Systems Using Machine Learning and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Project: Intelligent Crop Recommendation System Survey Date: February 2026 Number of Papers Reviewed: 10 Focus Areas: Machine Learning, Deep Learning, IoT, Precision Agriculture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Introduction to the Survey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1.1 Purpose and Scope</a:t>
            </a:r>
          </a:p>
          <a:p>
            <a:pPr>
              <a:defRPr sz="1800"/>
            </a:pPr>
            <a:r>
              <a:t>1.2 Survey Methodology</a:t>
            </a:r>
          </a:p>
          <a:p>
            <a:pPr>
              <a:defRPr sz="1800"/>
            </a:pPr>
            <a:r>
              <a:t>1.3 Research Questions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Detailed Paper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Random Forest achieved highest accuracy: 89.3%</a:t>
            </a:r>
          </a:p>
          <a:p>
            <a:pPr>
              <a:defRPr sz="1800"/>
            </a:pPr>
            <a:r>
              <a:t>Feature importance: Rainfall (25%), Soil pH (22%), Nitrogen (18%)</a:t>
            </a:r>
          </a:p>
          <a:p>
            <a:pPr>
              <a:defRPr sz="1800"/>
            </a:pPr>
            <a:r>
              <a:t>System successfully recommended traditional crops like rice, maize, and ginger</a:t>
            </a:r>
          </a:p>
          <a:p>
            <a:pPr>
              <a:defRPr sz="1800"/>
            </a:pPr>
            <a:r>
              <a:t>Regional customization improved accuracy by 12% over generic models</a:t>
            </a:r>
          </a:p>
          <a:p>
            <a:pPr>
              <a:defRPr sz="1800"/>
            </a:pPr>
            <a:r>
              <a:t>Paper 1: Machine Learning-Based Crop Recommendation System for Mizoram</a:t>
            </a:r>
          </a:p>
          <a:p>
            <a:pPr>
              <a:defRPr sz="1800"/>
            </a:pPr>
            <a:r>
              <a:t>Soil properties account for 68% of crop yield variability</a:t>
            </a:r>
          </a:p>
          <a:p>
            <a:pPr>
              <a:defRPr sz="1800"/>
            </a:pPr>
            <a:r>
              <a:t>NPK levels are most critical factors (combined 52% importance)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Detailed Paper Review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pH compatibility crucial for 85% of crops studied</a:t>
            </a:r>
          </a:p>
          <a:p>
            <a:pPr>
              <a:defRPr sz="1800"/>
            </a:pPr>
            <a:r>
              <a:t>Organic carbon content significantly affects long-term sustainability</a:t>
            </a:r>
          </a:p>
          <a:p>
            <a:pPr>
              <a:defRPr sz="1800"/>
            </a:pPr>
            <a:r>
              <a:t>Neural networks performed best with accuracy of 91.2%</a:t>
            </a:r>
          </a:p>
          <a:p>
            <a:pPr>
              <a:defRPr sz="1800"/>
            </a:pPr>
            <a:r>
              <a:t>Paper 2: Crop Recommendation Based on Soil Properties - A Comprehensive Analysis</a:t>
            </a:r>
          </a:p>
          <a:p>
            <a:pPr>
              <a:defRPr sz="1800"/>
            </a:pPr>
            <a:r>
              <a:t>GCN achieved 93.7% accuracy, outperforming traditional ML by 8-12%</a:t>
            </a:r>
          </a:p>
          <a:p>
            <a:pPr>
              <a:defRPr sz="1800"/>
            </a:pPr>
            <a:r>
              <a:t>Successfully captured complex crop-soil-climate relationships</a:t>
            </a:r>
          </a:p>
          <a:p>
            <a:pPr>
              <a:defRPr sz="1800"/>
            </a:pPr>
            <a:r>
              <a:t>Attention mechanism identified non-obvious feature interactions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Detailed Paper Review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Scalable to large agricultural knowledge bases</a:t>
            </a:r>
          </a:p>
          <a:p>
            <a:pPr>
              <a:defRPr sz="1800"/>
            </a:pPr>
            <a:r>
              <a:t>Better generalization to unseen crop-soil combinations</a:t>
            </a:r>
          </a:p>
          <a:p>
            <a:pPr>
              <a:defRPr sz="1800"/>
            </a:pPr>
            <a:r>
              <a:t>Paper 3: GCN-CRS - Performance Evaluation using Graph Convolutional Neural Network</a:t>
            </a:r>
          </a:p>
          <a:p>
            <a:pPr>
              <a:defRPr sz="1800"/>
            </a:pPr>
            <a:r>
              <a:t>Hybrid CNN-LSTM achieved 92.8% accuracy</a:t>
            </a:r>
          </a:p>
          <a:p>
            <a:pPr>
              <a:defRPr sz="1800"/>
            </a:pPr>
            <a:r>
              <a:t>Temporal patterns significantly improved seasonal recommendations</a:t>
            </a:r>
          </a:p>
          <a:p>
            <a:pPr>
              <a:defRPr sz="1800"/>
            </a:pPr>
            <a:r>
              <a:t>CNN effectively extracted spatial features from soil data</a:t>
            </a:r>
          </a:p>
          <a:p>
            <a:pPr>
              <a:defRPr sz="1800"/>
            </a:pPr>
            <a:r>
              <a:t>LSTM captured seasonal and weather trends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Detailed Paper Review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15% improvement over static models</a:t>
            </a:r>
          </a:p>
          <a:p>
            <a:pPr>
              <a:defRPr sz="1800"/>
            </a:pPr>
            <a:r>
              <a:t>Paper 4: Enhancing Crop Recommendation Using Deep Learning on Soil-Environmental Data</a:t>
            </a:r>
          </a:p>
          <a:p>
            <a:pPr>
              <a:defRPr sz="1800"/>
            </a:pPr>
            <a:r>
              <a:t>Disease detection accuracy: 96.4% across 15 diseases</a:t>
            </a:r>
          </a:p>
          <a:p>
            <a:pPr>
              <a:defRPr sz="1800"/>
            </a:pPr>
            <a:r>
              <a:t>Crop recommendation accuracy: 88.9%</a:t>
            </a:r>
          </a:p>
          <a:p>
            <a:pPr>
              <a:defRPr sz="1800"/>
            </a:pPr>
            <a:r>
              <a:t>Disease history improved recommendation safety by preventing susceptible crops</a:t>
            </a:r>
          </a:p>
          <a:p>
            <a:pPr>
              <a:defRPr sz="1800"/>
            </a:pPr>
            <a:r>
              <a:t>Mobile app deployment successful with 1,000+ farmer users</a:t>
            </a:r>
          </a:p>
          <a:p>
            <a:pPr>
              <a:defRPr sz="1800"/>
            </a:pPr>
            <a:r>
              <a:t>Farmers reported 18% reduction in crop failures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Detailed Paper Review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Paper 5: AI-Powered Leaf Disease Detection and Crop Recommendation System</a:t>
            </a:r>
          </a:p>
          <a:p>
            <a:pPr>
              <a:defRPr sz="1800"/>
            </a:pPr>
            <a:r>
              <a:t>Ensemble model achieved 94.1% accuracy</a:t>
            </a:r>
          </a:p>
          <a:p>
            <a:pPr>
              <a:defRPr sz="1800"/>
            </a:pPr>
            <a:r>
              <a:t>Response time: &lt;200ms for real-time recommendations</a:t>
            </a:r>
          </a:p>
          <a:p>
            <a:pPr>
              <a:defRPr sz="1800"/>
            </a:pPr>
            <a:r>
              <a:t>Feature engineering improved accuracy by 6.3%</a:t>
            </a:r>
          </a:p>
          <a:p>
            <a:pPr>
              <a:defRPr sz="1800"/>
            </a:pPr>
            <a:r>
              <a:t>XGBoost contributed most to ensemble (40% weight)</a:t>
            </a:r>
          </a:p>
          <a:p>
            <a:pPr>
              <a:defRPr sz="1800"/>
            </a:pPr>
            <a:r>
              <a:t>Successfully deployed on cloud infrastructure</a:t>
            </a:r>
          </a:p>
          <a:p>
            <a:pPr>
              <a:defRPr sz="1800"/>
            </a:pPr>
            <a:r>
              <a:t>Paper 6: Development of ML-Based System for Optimizing Crop Recommendations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Detailed Paper Review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ALO selected 12 most relevant features from 30 (60% reduction)</a:t>
            </a:r>
          </a:p>
          <a:p>
            <a:pPr>
              <a:defRPr sz="1800"/>
            </a:pPr>
            <a:r>
              <a:t>Improved accuracy from 84.6% to 90.2%</a:t>
            </a:r>
          </a:p>
          <a:p>
            <a:pPr>
              <a:defRPr sz="1800"/>
            </a:pPr>
            <a:r>
              <a:t>Reduced training time by 58%</a:t>
            </a:r>
          </a:p>
          <a:p>
            <a:pPr>
              <a:defRPr sz="1800"/>
            </a:pPr>
            <a:r>
              <a:t>Outperformed GA and PSO in feature selection quality</a:t>
            </a:r>
          </a:p>
          <a:p>
            <a:pPr>
              <a:defRPr sz="1800"/>
            </a:pPr>
            <a:r>
              <a:t>Identified NPK, pH, and rainfall as top 5 features</a:t>
            </a:r>
          </a:p>
          <a:p>
            <a:pPr>
              <a:defRPr sz="1800"/>
            </a:pPr>
            <a:r>
              <a:t>Paper 7: Crop Recommendation using Antlion Optimization and Decision Tree Algorithm</a:t>
            </a:r>
          </a:p>
          <a:p>
            <a:pPr>
              <a:defRPr sz="1800"/>
            </a:pPr>
            <a:r>
              <a:t>Optimal feature subset: 14 features (60% reduction)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Detailed Paper Review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Maintained 91.8% accuracy vs 92.1% with all features</a:t>
            </a:r>
          </a:p>
          <a:p>
            <a:pPr>
              <a:defRPr sz="1800"/>
            </a:pPr>
            <a:r>
              <a:t>Computational time reduced by 67%</a:t>
            </a:r>
          </a:p>
          <a:p>
            <a:pPr>
              <a:defRPr sz="1800"/>
            </a:pPr>
            <a:r>
              <a:t>Good generalization across different regions</a:t>
            </a:r>
          </a:p>
          <a:p>
            <a:pPr>
              <a:defRPr sz="1800"/>
            </a:pPr>
            <a:r>
              <a:t>Top features consistent with domain knowledge</a:t>
            </a:r>
          </a:p>
          <a:p>
            <a:pPr>
              <a:defRPr sz="1800"/>
            </a:pPr>
            <a:r>
              <a:t>Paper 8: Enhancing Efficiency using Incremental Rank-based Feature Selection</a:t>
            </a:r>
          </a:p>
          <a:p>
            <a:pPr>
              <a:defRPr sz="1800"/>
            </a:pPr>
            <a:r>
              <a:t>Real-time monitoring improved recommendation timeliness by 85%</a:t>
            </a:r>
          </a:p>
          <a:p>
            <a:pPr>
              <a:defRPr sz="1800"/>
            </a:pPr>
            <a:r>
              <a:t>Sensor automation reduced manual soil testing costs by 70%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Detailed Paper Review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System accuracy: 89.6% with continuous learning</a:t>
            </a:r>
          </a:p>
          <a:p>
            <a:pPr>
              <a:defRPr sz="1800"/>
            </a:pPr>
            <a:r>
              <a:t>Edge computing reduced latency to &lt;500ms</a:t>
            </a:r>
          </a:p>
          <a:p>
            <a:pPr>
              <a:defRPr sz="1800"/>
            </a:pPr>
            <a:r>
              <a:t>Farmers saved average 15% on fertilizer costs</a:t>
            </a:r>
          </a:p>
          <a:p>
            <a:pPr>
              <a:defRPr sz="1800"/>
            </a:pPr>
            <a:r>
              <a:t>Yield improvement of 12-18% reported</a:t>
            </a:r>
          </a:p>
          <a:p>
            <a:pPr>
              <a:defRPr sz="1800"/>
            </a:pPr>
            <a:r>
              <a:t>Paper 9: Optimizing Crop Yield - IoT and ML-based Soil Testing and Crop Recommendation</a:t>
            </a:r>
          </a:p>
          <a:p>
            <a:pPr>
              <a:defRPr sz="1800"/>
            </a:pPr>
            <a:r>
              <a:t>Crop recommendation accuracy: 88.7%</a:t>
            </a:r>
          </a:p>
          <a:p>
            <a:pPr>
              <a:defRPr sz="1800"/>
            </a:pPr>
            <a:r>
              <a:t>Fertilizer recommendation accuracy: 85.3%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Detailed Paper Review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Pesticide recommendation accuracy: 82.9%</a:t>
            </a:r>
          </a:p>
          <a:p>
            <a:pPr>
              <a:defRPr sz="1800"/>
            </a:pPr>
            <a:r>
              <a:t>Web platform received 4.3/5.0 user satisfaction</a:t>
            </a:r>
          </a:p>
          <a:p>
            <a:pPr>
              <a:defRPr sz="1800"/>
            </a:pPr>
            <a:r>
              <a:t>Integrated approach valuable: 76% users preferred comprehensive system</a:t>
            </a:r>
          </a:p>
          <a:p>
            <a:pPr>
              <a:defRPr sz="1800"/>
            </a:pPr>
            <a:r>
              <a:t>Weather integration improved recommendation acceptance by 31%</a:t>
            </a:r>
          </a:p>
          <a:p>
            <a:pPr>
              <a:defRPr sz="1800"/>
            </a:pPr>
            <a:r>
              <a:t>Paper 10: Web-Based Agriculture Recommendation using Deep Learning for Crops, Fertilizers, Pesticides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Emerging Trends and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4.1 Algorithmic Trends</a:t>
            </a:r>
          </a:p>
          <a:p>
            <a:pPr>
              <a:defRPr sz="1800"/>
            </a:pPr>
            <a:r>
              <a:t>4.2 Data Integration Trends</a:t>
            </a:r>
          </a:p>
          <a:p>
            <a:pPr>
              <a:defRPr sz="1800"/>
            </a:pPr>
            <a:r>
              <a:t>4.3 Deployment Trends</a:t>
            </a:r>
          </a:p>
          <a:p>
            <a:pPr>
              <a:defRPr sz="1800"/>
            </a:pPr>
            <a:r>
              <a:t>4.4 Scope Expansion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Research Gaps Identified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5.1 Accessibility Gaps</a:t>
            </a:r>
          </a:p>
          <a:p>
            <a:pPr>
              <a:defRPr sz="1800"/>
            </a:pPr>
            <a:r>
              <a:t>5.2 Technical Gaps</a:t>
            </a:r>
          </a:p>
          <a:p>
            <a:pPr>
              <a:defRPr sz="1800"/>
            </a:pPr>
            <a:r>
              <a:t>5.3 Data Gaps</a:t>
            </a:r>
          </a:p>
          <a:p>
            <a:pPr>
              <a:defRPr sz="1800"/>
            </a:pPr>
            <a:r>
              <a:t>5.4 Practical Implementation Gaps</a:t>
            </a:r>
          </a:p>
          <a:p>
            <a:pPr>
              <a:defRPr sz="1800"/>
            </a:pPr>
            <a:r>
              <a:t>5.5 Functional Gaps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Key Takeaways for Our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7.1 Algorithm Selection</a:t>
            </a:r>
          </a:p>
          <a:p>
            <a:pPr>
              <a:defRPr sz="1800"/>
            </a:pPr>
            <a:r>
              <a:t>7.2 Feature Importance</a:t>
            </a:r>
          </a:p>
          <a:p>
            <a:pPr>
              <a:defRPr sz="1800"/>
            </a:pPr>
            <a:r>
              <a:t>7.3 Integration Best Practices</a:t>
            </a:r>
          </a:p>
          <a:p>
            <a:pPr>
              <a:defRPr sz="1800"/>
            </a:pPr>
            <a:r>
              <a:t>7.4 User Experience Insights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